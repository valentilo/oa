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</p:sldMasterIdLst>
  <p:sldIdLst>
    <p:sldId id="263" r:id="rId2"/>
    <p:sldId id="259" r:id="rId3"/>
    <p:sldId id="260" r:id="rId4"/>
    <p:sldId id="280" r:id="rId5"/>
    <p:sldId id="267" r:id="rId6"/>
    <p:sldId id="266" r:id="rId7"/>
    <p:sldId id="265" r:id="rId8"/>
    <p:sldId id="276" r:id="rId9"/>
    <p:sldId id="270" r:id="rId10"/>
    <p:sldId id="273" r:id="rId11"/>
    <p:sldId id="277" r:id="rId12"/>
    <p:sldId id="292" r:id="rId13"/>
    <p:sldId id="291" r:id="rId14"/>
    <p:sldId id="275" r:id="rId15"/>
    <p:sldId id="274" r:id="rId16"/>
    <p:sldId id="272" r:id="rId17"/>
    <p:sldId id="269" r:id="rId18"/>
    <p:sldId id="271" r:id="rId19"/>
    <p:sldId id="264" r:id="rId20"/>
    <p:sldId id="261" r:id="rId21"/>
    <p:sldId id="284" r:id="rId22"/>
    <p:sldId id="283" r:id="rId23"/>
    <p:sldId id="282" r:id="rId24"/>
    <p:sldId id="268" r:id="rId25"/>
    <p:sldId id="278" r:id="rId26"/>
    <p:sldId id="285" r:id="rId27"/>
    <p:sldId id="286" r:id="rId28"/>
    <p:sldId id="287" r:id="rId29"/>
    <p:sldId id="288" r:id="rId30"/>
    <p:sldId id="289" r:id="rId31"/>
    <p:sldId id="290" r:id="rId3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 descr="Dibujo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="1" cap="none" spc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8948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cap="none" spc="0">
                <a:ln w="18415" cmpd="sng">
                  <a:solidFill>
                    <a:srgbClr val="0066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n>
                  <a:noFill/>
                </a:ln>
                <a:solidFill>
                  <a:srgbClr val="0000CC"/>
                </a:solidFill>
              </a:defRPr>
            </a:lvl1pPr>
            <a:lvl2pPr>
              <a:defRPr>
                <a:ln>
                  <a:noFill/>
                </a:ln>
                <a:solidFill>
                  <a:srgbClr val="0000CC"/>
                </a:solidFill>
              </a:defRPr>
            </a:lvl2pPr>
            <a:lvl3pPr>
              <a:defRPr>
                <a:ln>
                  <a:noFill/>
                </a:ln>
                <a:solidFill>
                  <a:srgbClr val="0000CC"/>
                </a:solidFill>
              </a:defRPr>
            </a:lvl3pPr>
            <a:lvl4pPr>
              <a:defRPr>
                <a:ln>
                  <a:noFill/>
                </a:ln>
                <a:solidFill>
                  <a:srgbClr val="0000CC"/>
                </a:solidFill>
              </a:defRPr>
            </a:lvl4pPr>
            <a:lvl5pPr>
              <a:defRPr>
                <a:ln>
                  <a:noFill/>
                </a:ln>
                <a:solidFill>
                  <a:srgbClr val="0000CC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263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4001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62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805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590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9353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8557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2909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9571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252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C7E19-DCA5-49F3-B8D2-FDEAC3543D3D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6 Imagen" descr="Dibujo.bmp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0" y="0"/>
            <a:ext cx="12192000" cy="7010400"/>
          </a:xfrm>
          <a:prstGeom prst="rect">
            <a:avLst/>
          </a:prstGeom>
          <a:gradFill flip="none" rotWithShape="1">
            <a:gsLst>
              <a:gs pos="100000">
                <a:srgbClr val="03D4A8">
                  <a:alpha val="18000"/>
                </a:srgbClr>
              </a:gs>
              <a:gs pos="25000">
                <a:srgbClr val="21D6E0">
                  <a:alpha val="23000"/>
                </a:srgbClr>
              </a:gs>
              <a:gs pos="75000">
                <a:srgbClr val="0087E6">
                  <a:alpha val="25000"/>
                </a:srgbClr>
              </a:gs>
              <a:gs pos="100000">
                <a:srgbClr val="005CBF">
                  <a:alpha val="25999"/>
                </a:srgbClr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2673191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BE1B47-9E47-9CBE-D322-40B93EDDF1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ru-RU" dirty="0">
                <a:effectLst/>
              </a:rPr>
            </a:br>
            <a:endParaRPr lang="ru-RU" sz="5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15AFE19-3D70-2A10-9A1F-0C3D5FE56E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тема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B8C4F4-EFBB-F260-E072-A5E4A7214FB1}"/>
              </a:ext>
            </a:extLst>
          </p:cNvPr>
          <p:cNvSpPr txBox="1"/>
          <p:nvPr/>
        </p:nvSpPr>
        <p:spPr>
          <a:xfrm>
            <a:off x="3886200" y="2743200"/>
            <a:ext cx="639630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tx2">
                    <a:lumMod val="75000"/>
                  </a:schemeClr>
                </a:solidFill>
              </a:rPr>
              <a:t>Условный оператор </a:t>
            </a:r>
            <a:r>
              <a:rPr lang="ru-RU" sz="3600" b="1" dirty="0" err="1">
                <a:solidFill>
                  <a:schemeClr val="tx2">
                    <a:lumMod val="75000"/>
                  </a:schemeClr>
                </a:solidFill>
              </a:rPr>
              <a:t>if</a:t>
            </a:r>
            <a:r>
              <a:rPr lang="ru-RU" sz="3600" b="1" dirty="0">
                <a:solidFill>
                  <a:schemeClr val="tx2">
                    <a:lumMod val="75000"/>
                  </a:schemeClr>
                </a:solidFill>
              </a:rPr>
              <a:t>, </a:t>
            </a:r>
            <a:r>
              <a:rPr lang="ru-RU" sz="3600" b="1" dirty="0" err="1">
                <a:solidFill>
                  <a:schemeClr val="tx2">
                    <a:lumMod val="75000"/>
                  </a:schemeClr>
                </a:solidFill>
              </a:rPr>
              <a:t>elif</a:t>
            </a:r>
            <a:r>
              <a:rPr lang="ru-RU" sz="3600" b="1" dirty="0">
                <a:solidFill>
                  <a:schemeClr val="tx2">
                    <a:lumMod val="75000"/>
                  </a:schemeClr>
                </a:solidFill>
              </a:rPr>
              <a:t>, </a:t>
            </a:r>
            <a:r>
              <a:rPr lang="ru-RU" sz="3600" b="1" dirty="0" err="1">
                <a:solidFill>
                  <a:schemeClr val="tx2">
                    <a:lumMod val="75000"/>
                  </a:schemeClr>
                </a:solidFill>
              </a:rPr>
              <a:t>else</a:t>
            </a:r>
            <a:r>
              <a:rPr lang="ru-RU" sz="3600" b="1" dirty="0">
                <a:solidFill>
                  <a:schemeClr val="tx2">
                    <a:lumMod val="75000"/>
                  </a:schemeClr>
                </a:solidFill>
              </a:rPr>
              <a:t>.</a:t>
            </a:r>
            <a:endParaRPr lang="en-US" sz="36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ru-RU" sz="3600" b="1" dirty="0">
                <a:solidFill>
                  <a:schemeClr val="tx2">
                    <a:lumMod val="75000"/>
                  </a:schemeClr>
                </a:solidFill>
              </a:rPr>
              <a:t> Вложенные условия</a:t>
            </a:r>
          </a:p>
          <a:p>
            <a:endParaRPr lang="ru-RU" sz="36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02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7F778-4323-4A64-0B60-59668E584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AE792C-54FF-C25B-DEAA-C7DF8621C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Научиться применять на практике</a:t>
            </a:r>
          </a:p>
          <a:p>
            <a:r>
              <a:rPr lang="ru-RU" sz="4000" dirty="0"/>
              <a:t>Запомнить синтаксис применения </a:t>
            </a:r>
            <a:r>
              <a:rPr lang="ru-RU" sz="4000" dirty="0" err="1"/>
              <a:t>if</a:t>
            </a:r>
            <a:r>
              <a:rPr lang="ru-RU" sz="4000" dirty="0"/>
              <a:t>, </a:t>
            </a:r>
            <a:r>
              <a:rPr lang="ru-RU" sz="4000" dirty="0" err="1"/>
              <a:t>elif</a:t>
            </a:r>
            <a:r>
              <a:rPr lang="ru-RU" sz="4000" dirty="0"/>
              <a:t>, </a:t>
            </a:r>
            <a:r>
              <a:rPr lang="ru-RU" sz="4000" dirty="0" err="1"/>
              <a:t>else</a:t>
            </a:r>
            <a:endParaRPr lang="ru-RU" sz="4000" dirty="0"/>
          </a:p>
          <a:p>
            <a:r>
              <a:rPr lang="ru-RU" sz="4000" dirty="0"/>
              <a:t>Сформировать у обучающихся понимание того, как программа принимает решения с помощью условных операторов, и научить применять </a:t>
            </a:r>
            <a:r>
              <a:rPr lang="ru-RU" sz="4000" dirty="0" err="1"/>
              <a:t>if</a:t>
            </a:r>
            <a:r>
              <a:rPr lang="ru-RU" sz="4000" dirty="0"/>
              <a:t>, </a:t>
            </a:r>
            <a:r>
              <a:rPr lang="ru-RU" sz="4000" dirty="0" err="1"/>
              <a:t>elif</a:t>
            </a:r>
            <a:r>
              <a:rPr lang="ru-RU" sz="4000" dirty="0"/>
              <a:t>, </a:t>
            </a:r>
            <a:r>
              <a:rPr lang="ru-RU" sz="4000" dirty="0" err="1"/>
              <a:t>else</a:t>
            </a:r>
            <a:r>
              <a:rPr lang="ru-RU" sz="4000" dirty="0"/>
              <a:t> и вложенные условия при решении задач.</a:t>
            </a:r>
          </a:p>
          <a:p>
            <a:pPr marL="0" indent="0">
              <a:buNone/>
            </a:pP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480104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88D02-382A-2EB9-CD8F-342D05C84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Задачи</a:t>
            </a:r>
            <a:br>
              <a:rPr lang="ru-RU"/>
            </a:b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3FF237-86B4-6E06-2E56-2FFF6472D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Образовательные:</a:t>
            </a:r>
            <a:endParaRPr lang="ru-RU" dirty="0"/>
          </a:p>
          <a:p>
            <a:pPr lvl="0"/>
            <a:r>
              <a:rPr lang="ru-RU" dirty="0"/>
              <a:t>Раскрыть понятие условного оператора и его роль в программе.</a:t>
            </a:r>
          </a:p>
          <a:p>
            <a:pPr lvl="0"/>
            <a:r>
              <a:rPr lang="ru-RU" dirty="0"/>
              <a:t>Изучить синтаксис и принцип работы </a:t>
            </a:r>
            <a:r>
              <a:rPr lang="ru-RU" dirty="0" err="1"/>
              <a:t>if</a:t>
            </a:r>
            <a:r>
              <a:rPr lang="ru-RU" dirty="0"/>
              <a:t>, </a:t>
            </a:r>
            <a:r>
              <a:rPr lang="ru-RU" dirty="0" err="1"/>
              <a:t>elif</a:t>
            </a:r>
            <a:r>
              <a:rPr lang="ru-RU" dirty="0"/>
              <a:t>, </a:t>
            </a:r>
            <a:r>
              <a:rPr lang="ru-RU" dirty="0" err="1"/>
              <a:t>else</a:t>
            </a:r>
            <a:r>
              <a:rPr lang="ru-RU" dirty="0"/>
              <a:t>.</a:t>
            </a:r>
          </a:p>
          <a:p>
            <a:pPr lvl="0"/>
            <a:r>
              <a:rPr lang="ru-RU" dirty="0"/>
              <a:t>Разобрать разницу между несколькими </a:t>
            </a:r>
            <a:r>
              <a:rPr lang="ru-RU" dirty="0" err="1"/>
              <a:t>if</a:t>
            </a:r>
            <a:r>
              <a:rPr lang="ru-RU" dirty="0"/>
              <a:t> и цепочкой </a:t>
            </a:r>
            <a:r>
              <a:rPr lang="ru-RU" dirty="0" err="1"/>
              <a:t>if-elif-else</a:t>
            </a:r>
            <a:r>
              <a:rPr lang="ru-RU" dirty="0"/>
              <a:t>.</a:t>
            </a:r>
          </a:p>
          <a:p>
            <a:pPr lvl="0"/>
            <a:r>
              <a:rPr lang="ru-RU" dirty="0"/>
              <a:t>Познакомить с вложенными условиями.</a:t>
            </a:r>
          </a:p>
          <a:p>
            <a:pPr lvl="0"/>
            <a:r>
              <a:rPr lang="ru-RU" dirty="0"/>
              <a:t>Рассмотреть типовые задачи, решаемые через условия.</a:t>
            </a:r>
          </a:p>
          <a:p>
            <a:pPr marL="0" indent="0">
              <a:buNone/>
            </a:pPr>
            <a:r>
              <a:rPr lang="ru-RU" b="1" dirty="0"/>
              <a:t>Развивающие:</a:t>
            </a:r>
            <a:endParaRPr lang="ru-RU" dirty="0"/>
          </a:p>
          <a:p>
            <a:pPr lvl="0"/>
            <a:r>
              <a:rPr lang="ru-RU" dirty="0"/>
              <a:t>Развивать логическое мышление и умение строить ветвления.</a:t>
            </a:r>
          </a:p>
          <a:p>
            <a:pPr lvl="0"/>
            <a:r>
              <a:rPr lang="ru-RU" dirty="0"/>
              <a:t>Формировать навык анализа условий задачи.</a:t>
            </a:r>
          </a:p>
          <a:p>
            <a:pPr lvl="0"/>
            <a:r>
              <a:rPr lang="ru-RU" dirty="0"/>
              <a:t>Учить выбирать правильную конструкцию для конкретной ситуации.</a:t>
            </a:r>
          </a:p>
          <a:p>
            <a:pPr marL="0" indent="0">
              <a:buNone/>
            </a:pPr>
            <a:r>
              <a:rPr lang="ru-RU" b="1" dirty="0"/>
              <a:t>Воспитательные:</a:t>
            </a:r>
            <a:endParaRPr lang="ru-RU" dirty="0"/>
          </a:p>
          <a:p>
            <a:pPr lvl="0"/>
            <a:r>
              <a:rPr lang="ru-RU" dirty="0"/>
              <a:t>Формировать аккуратность при написании кода.</a:t>
            </a:r>
          </a:p>
          <a:p>
            <a:pPr lvl="0"/>
            <a:r>
              <a:rPr lang="ru-RU" dirty="0"/>
              <a:t>Воспитывать внимательность к деталям (отступы, двоеточия).</a:t>
            </a:r>
          </a:p>
          <a:p>
            <a:pPr lvl="0"/>
            <a:r>
              <a:rPr lang="ru-RU" dirty="0"/>
              <a:t>Развивать умение читать чужой код.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4679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EDECFD-EA77-CA8F-EB57-DA386DB21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 Что такое условный оператор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51DF7C-E228-8341-7981-B13DA18D6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Условный оператор</a:t>
            </a:r>
            <a:r>
              <a:rPr lang="ru-RU" dirty="0"/>
              <a:t> позволяет программе </a:t>
            </a:r>
            <a:r>
              <a:rPr lang="ru-RU" b="1" dirty="0"/>
              <a:t>выбирать</a:t>
            </a:r>
            <a:r>
              <a:rPr lang="ru-RU" dirty="0"/>
              <a:t>, что делать, в зависимости от условий.</a:t>
            </a:r>
          </a:p>
          <a:p>
            <a:pPr marL="0" indent="0">
              <a:buNone/>
            </a:pPr>
            <a:r>
              <a:rPr lang="ru-RU" b="1" dirty="0"/>
              <a:t>Зачем нужно:</a:t>
            </a:r>
            <a:endParaRPr lang="ru-RU" dirty="0"/>
          </a:p>
          <a:p>
            <a:pPr marL="0" lvl="0" indent="0">
              <a:buNone/>
            </a:pPr>
            <a:r>
              <a:rPr lang="ru-RU" dirty="0"/>
              <a:t>Реагировать на данные пользователя.</a:t>
            </a:r>
          </a:p>
          <a:p>
            <a:pPr marL="0" lvl="0" indent="0">
              <a:buNone/>
            </a:pPr>
            <a:r>
              <a:rPr lang="ru-RU" dirty="0"/>
              <a:t>Обрабатывать разные случаи.</a:t>
            </a:r>
          </a:p>
          <a:p>
            <a:pPr marL="0" lvl="0" indent="0">
              <a:buNone/>
            </a:pPr>
            <a:r>
              <a:rPr lang="ru-RU" dirty="0"/>
              <a:t>Проверять корректность данных.</a:t>
            </a:r>
          </a:p>
          <a:p>
            <a:pPr marL="0" lvl="0" indent="0">
              <a:buNone/>
            </a:pPr>
            <a:r>
              <a:rPr lang="ru-RU" dirty="0"/>
              <a:t>Реализовать логику «если — то — иначе».</a:t>
            </a:r>
          </a:p>
          <a:p>
            <a:pPr marL="0" indent="0">
              <a:buNone/>
            </a:pPr>
            <a:r>
              <a:rPr lang="ru-RU" b="1" dirty="0"/>
              <a:t>Аналогия: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«Если на улице дождь — возьми зонт. Иначе — надень очки.»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84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71A45-20B3-DCA9-CD9A-C4FEEDE41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Оператор </a:t>
            </a:r>
            <a:r>
              <a:rPr lang="ru-RU" dirty="0" err="1">
                <a:effectLst/>
              </a:rPr>
              <a:t>if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CA5938-B3C9-9112-B133-669B45ADE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6000" b="1" dirty="0"/>
              <a:t>Синтаксис</a:t>
            </a:r>
          </a:p>
          <a:p>
            <a:pPr marL="0" indent="0">
              <a:buNone/>
            </a:pPr>
            <a:r>
              <a:rPr lang="ru-RU" sz="6000" dirty="0" err="1"/>
              <a:t>if</a:t>
            </a:r>
            <a:r>
              <a:rPr lang="ru-RU" sz="6000" dirty="0"/>
              <a:t> условие:</a:t>
            </a:r>
          </a:p>
          <a:p>
            <a:pPr marL="0" indent="0">
              <a:buNone/>
            </a:pPr>
            <a:r>
              <a:rPr lang="ru-RU" sz="6000" dirty="0"/>
              <a:t>    тело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100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3D8B8E-82E2-C00B-BC27-02F0DD317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Как работает: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BB4644-EE2A-686D-B0AF-E621B8133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ru-RU" sz="4400" dirty="0"/>
              <a:t>Проверяется условие.</a:t>
            </a:r>
          </a:p>
          <a:p>
            <a:pPr marL="0" lvl="0" indent="0">
              <a:buNone/>
            </a:pPr>
            <a:r>
              <a:rPr lang="ru-RU" sz="4400" dirty="0"/>
              <a:t>Если True — выполняется тело.</a:t>
            </a:r>
          </a:p>
          <a:p>
            <a:pPr marL="0" lvl="0" indent="0">
              <a:buNone/>
            </a:pPr>
            <a:r>
              <a:rPr lang="ru-RU" sz="4400" dirty="0"/>
              <a:t>Если </a:t>
            </a:r>
            <a:r>
              <a:rPr lang="ru-RU" sz="4400" dirty="0" err="1"/>
              <a:t>False</a:t>
            </a:r>
            <a:r>
              <a:rPr lang="ru-RU" sz="4400" dirty="0"/>
              <a:t> — тело пропускается.</a:t>
            </a:r>
          </a:p>
          <a:p>
            <a:pPr marL="0" indent="0">
              <a:buNone/>
            </a:pPr>
            <a:r>
              <a:rPr lang="ru-RU" sz="4400" dirty="0"/>
              <a:t>⚠️ </a:t>
            </a:r>
            <a:r>
              <a:rPr lang="ru-RU" sz="4400" b="1" dirty="0"/>
              <a:t>Двоеточие : обязательно</a:t>
            </a:r>
            <a:r>
              <a:rPr lang="ru-RU" sz="4400" dirty="0"/>
              <a:t> после условия.</a:t>
            </a:r>
          </a:p>
          <a:p>
            <a:pPr marL="0" indent="0">
              <a:buNone/>
            </a:pPr>
            <a:r>
              <a:rPr lang="ru-RU" sz="4400" dirty="0"/>
              <a:t>⚠️ </a:t>
            </a:r>
            <a:r>
              <a:rPr lang="ru-RU" sz="4400" b="1" dirty="0"/>
              <a:t>Отступ обязателен</a:t>
            </a:r>
            <a:r>
              <a:rPr lang="ru-RU" sz="4400" dirty="0"/>
              <a:t> — 4 пробела.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7368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E5AE39-8676-7218-18B5-3E5947E32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339E48-8ADA-3476-CB50-0B58F442C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4000" b="1" dirty="0"/>
              <a:t> </a:t>
            </a:r>
            <a:r>
              <a:rPr lang="ru-RU" sz="4000" dirty="0" err="1"/>
              <a:t>age</a:t>
            </a:r>
            <a:r>
              <a:rPr lang="ru-RU" sz="4000" dirty="0"/>
              <a:t> = 20</a:t>
            </a:r>
          </a:p>
          <a:p>
            <a:pPr marL="0" indent="0">
              <a:buNone/>
            </a:pPr>
            <a:endParaRPr lang="ru-RU" sz="4000" dirty="0"/>
          </a:p>
          <a:p>
            <a:pPr marL="0" indent="0">
              <a:buNone/>
            </a:pPr>
            <a:r>
              <a:rPr lang="ru-RU" sz="4000" dirty="0" err="1"/>
              <a:t>if</a:t>
            </a:r>
            <a:r>
              <a:rPr lang="ru-RU" sz="4000" dirty="0"/>
              <a:t> </a:t>
            </a:r>
            <a:r>
              <a:rPr lang="ru-RU" sz="4000" dirty="0" err="1"/>
              <a:t>age</a:t>
            </a:r>
            <a:r>
              <a:rPr lang="ru-RU" sz="4000" dirty="0"/>
              <a:t> &gt;= 18:</a:t>
            </a:r>
          </a:p>
          <a:p>
            <a:pPr marL="0" indent="0">
              <a:buNone/>
            </a:pPr>
            <a:r>
              <a:rPr lang="ru-RU" sz="4000" dirty="0"/>
              <a:t>    </a:t>
            </a:r>
            <a:r>
              <a:rPr lang="ru-RU" sz="4000" dirty="0" err="1"/>
              <a:t>print</a:t>
            </a:r>
            <a:r>
              <a:rPr lang="ru-RU" sz="4000" dirty="0"/>
              <a:t>("Совершеннолетний")</a:t>
            </a:r>
          </a:p>
          <a:p>
            <a:pPr marL="0" indent="0">
              <a:buNone/>
            </a:pPr>
            <a:r>
              <a:rPr lang="ru-RU" sz="4000" b="1" dirty="0"/>
              <a:t>Вывод:</a:t>
            </a:r>
            <a:r>
              <a:rPr lang="ru-RU" sz="4000" dirty="0"/>
              <a:t> Совершеннолетний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0569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AECC70-469F-EBA0-C86D-94CD72470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Что может быть условием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379843-E1A0-644C-3781-6B1454473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Любое </a:t>
            </a:r>
            <a:r>
              <a:rPr lang="ru-RU" b="1" dirty="0"/>
              <a:t>логическое выражение</a:t>
            </a:r>
            <a:r>
              <a:rPr lang="ru-RU" dirty="0"/>
              <a:t> или значение:</a:t>
            </a:r>
          </a:p>
          <a:p>
            <a:pPr marL="0" indent="0">
              <a:buNone/>
            </a:pPr>
            <a:r>
              <a:rPr lang="ru-RU" dirty="0" err="1"/>
              <a:t>if</a:t>
            </a:r>
            <a:r>
              <a:rPr lang="ru-RU" dirty="0"/>
              <a:t> x &gt; 5:           # сравнение</a:t>
            </a:r>
          </a:p>
          <a:p>
            <a:pPr marL="0" indent="0">
              <a:buNone/>
            </a:pPr>
            <a:r>
              <a:rPr lang="ru-RU" dirty="0" err="1"/>
              <a:t>if</a:t>
            </a:r>
            <a:r>
              <a:rPr lang="ru-RU" dirty="0"/>
              <a:t> x == 10:         # равенство</a:t>
            </a:r>
          </a:p>
          <a:p>
            <a:pPr marL="0" indent="0">
              <a:buNone/>
            </a:pPr>
            <a:r>
              <a:rPr lang="ru-RU" dirty="0" err="1"/>
              <a:t>if</a:t>
            </a:r>
            <a:r>
              <a:rPr lang="ru-RU" dirty="0"/>
              <a:t> x != 0:          # неравенство</a:t>
            </a:r>
          </a:p>
          <a:p>
            <a:pPr marL="0" indent="0">
              <a:buNone/>
            </a:pPr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name</a:t>
            </a:r>
            <a:r>
              <a:rPr lang="ru-RU" dirty="0"/>
              <a:t>:            # непустая строка</a:t>
            </a:r>
          </a:p>
          <a:p>
            <a:pPr marL="0" indent="0">
              <a:buNone/>
            </a:pPr>
            <a:r>
              <a:rPr lang="ru-RU" dirty="0" err="1"/>
              <a:t>if</a:t>
            </a:r>
            <a:r>
              <a:rPr lang="ru-RU" dirty="0"/>
              <a:t> items:           # непустой список</a:t>
            </a:r>
          </a:p>
          <a:p>
            <a:pPr marL="0" indent="0">
              <a:buNone/>
            </a:pPr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flag</a:t>
            </a:r>
            <a:r>
              <a:rPr lang="ru-RU" dirty="0"/>
              <a:t>:            # флаг</a:t>
            </a:r>
          </a:p>
          <a:p>
            <a:pPr marL="0" indent="0">
              <a:buNone/>
            </a:pPr>
            <a:r>
              <a:rPr lang="ru-RU" dirty="0" err="1"/>
              <a:t>if</a:t>
            </a:r>
            <a:r>
              <a:rPr lang="ru-RU" dirty="0"/>
              <a:t> x &gt; 0 and x &lt; 10:   # составное условие</a:t>
            </a:r>
          </a:p>
          <a:p>
            <a:pPr marL="0" indent="0">
              <a:buNone/>
            </a:pPr>
            <a:r>
              <a:rPr lang="ru-RU" dirty="0" err="1"/>
              <a:t>if</a:t>
            </a:r>
            <a:r>
              <a:rPr lang="ru-RU" dirty="0"/>
              <a:t> x </a:t>
            </a:r>
            <a:r>
              <a:rPr lang="ru-RU" dirty="0" err="1"/>
              <a:t>in</a:t>
            </a:r>
            <a:r>
              <a:rPr lang="ru-RU" dirty="0"/>
              <a:t> [1, 2, 3]:     # проверка вхождения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3915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69C76-311C-A4B3-971D-CA5228E25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Оператор </a:t>
            </a:r>
            <a:r>
              <a:rPr lang="ru-RU" dirty="0" err="1">
                <a:effectLst/>
              </a:rPr>
              <a:t>if-else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070C6A-267B-0B5C-B27F-D7CB4234C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4400" b="1" dirty="0"/>
              <a:t>Синтаксис</a:t>
            </a:r>
          </a:p>
          <a:p>
            <a:pPr marL="0" indent="0">
              <a:buNone/>
            </a:pPr>
            <a:r>
              <a:rPr lang="ru-RU" sz="4400" dirty="0" err="1"/>
              <a:t>if</a:t>
            </a:r>
            <a:r>
              <a:rPr lang="ru-RU" sz="4400" dirty="0"/>
              <a:t> условие:</a:t>
            </a:r>
          </a:p>
          <a:p>
            <a:pPr marL="0" indent="0">
              <a:buNone/>
            </a:pPr>
            <a:r>
              <a:rPr lang="ru-RU" sz="4400" dirty="0"/>
              <a:t>    </a:t>
            </a:r>
            <a:r>
              <a:rPr lang="ru-RU" sz="4400" dirty="0" err="1"/>
              <a:t>тело_если_истина</a:t>
            </a:r>
            <a:endParaRPr lang="ru-RU" sz="4400" dirty="0"/>
          </a:p>
          <a:p>
            <a:pPr marL="0" indent="0">
              <a:buNone/>
            </a:pPr>
            <a:r>
              <a:rPr lang="ru-RU" sz="4400" dirty="0" err="1"/>
              <a:t>else</a:t>
            </a:r>
            <a:r>
              <a:rPr lang="ru-RU" sz="4400" dirty="0"/>
              <a:t>:</a:t>
            </a:r>
          </a:p>
          <a:p>
            <a:pPr marL="0" indent="0">
              <a:buNone/>
            </a:pPr>
            <a:r>
              <a:rPr lang="ru-RU" sz="4400" dirty="0"/>
              <a:t>    </a:t>
            </a:r>
            <a:r>
              <a:rPr lang="ru-RU" sz="4400" dirty="0" err="1"/>
              <a:t>тело_если_ложь</a:t>
            </a:r>
            <a:endParaRPr lang="ru-RU" sz="4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2174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F4138F-8163-8541-F1DB-0212F4397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1F2328"/>
                </a:solidFill>
                <a:effectLst/>
                <a:latin typeface="Mona Sans VF"/>
              </a:rPr>
              <a:t>Как работает: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738760-58AE-64A0-DB0B-5248B47FC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5400" b="0" i="0" dirty="0">
                <a:solidFill>
                  <a:srgbClr val="1F2328"/>
                </a:solidFill>
                <a:effectLst/>
                <a:latin typeface="Mona Sans VF"/>
              </a:rPr>
              <a:t>Если условие </a:t>
            </a:r>
            <a:r>
              <a:rPr lang="ru-RU" sz="5400" b="0" i="0" dirty="0">
                <a:solidFill>
                  <a:srgbClr val="1F2328"/>
                </a:solidFill>
                <a:effectLst/>
                <a:latin typeface="Monaspace Neon"/>
              </a:rPr>
              <a:t>True</a:t>
            </a:r>
            <a:r>
              <a:rPr lang="ru-RU" sz="5400" b="0" i="0" dirty="0">
                <a:solidFill>
                  <a:srgbClr val="1F2328"/>
                </a:solidFill>
                <a:effectLst/>
                <a:latin typeface="Mona Sans VF"/>
              </a:rPr>
              <a:t> — первое тело.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5400" b="0" i="0" dirty="0">
                <a:solidFill>
                  <a:srgbClr val="1F2328"/>
                </a:solidFill>
                <a:effectLst/>
                <a:latin typeface="Mona Sans VF"/>
              </a:rPr>
              <a:t>Если </a:t>
            </a:r>
            <a:r>
              <a:rPr lang="ru-RU" sz="5400" b="0" i="0" dirty="0" err="1">
                <a:solidFill>
                  <a:srgbClr val="1F2328"/>
                </a:solidFill>
                <a:effectLst/>
                <a:latin typeface="Monaspace Neon"/>
              </a:rPr>
              <a:t>False</a:t>
            </a:r>
            <a:r>
              <a:rPr lang="ru-RU" sz="5400" b="0" i="0" dirty="0">
                <a:solidFill>
                  <a:srgbClr val="1F2328"/>
                </a:solidFill>
                <a:effectLst/>
                <a:latin typeface="Mona Sans VF"/>
              </a:rPr>
              <a:t> — второе.</a:t>
            </a:r>
          </a:p>
          <a:p>
            <a:pPr indent="0" algn="l">
              <a:spcAft>
                <a:spcPts val="1200"/>
              </a:spcAft>
              <a:buNone/>
            </a:pPr>
            <a:r>
              <a:rPr lang="ru-RU" sz="5400" b="0" i="0" dirty="0">
                <a:solidFill>
                  <a:srgbClr val="1F2328"/>
                </a:solidFill>
                <a:effectLst/>
                <a:latin typeface="Mona Sans VF"/>
              </a:rPr>
              <a:t>⚠️ </a:t>
            </a:r>
            <a:r>
              <a:rPr lang="ru-RU" sz="5400" b="1" i="0" dirty="0" err="1">
                <a:solidFill>
                  <a:srgbClr val="1F2328"/>
                </a:solidFill>
                <a:effectLst/>
                <a:latin typeface="Monaspace Neon"/>
              </a:rPr>
              <a:t>else</a:t>
            </a:r>
            <a:r>
              <a:rPr lang="ru-RU" sz="5400" b="1" i="0" dirty="0">
                <a:solidFill>
                  <a:srgbClr val="1F2328"/>
                </a:solidFill>
                <a:effectLst/>
                <a:latin typeface="Mona Sans VF"/>
              </a:rPr>
              <a:t> не имеет условия</a:t>
            </a:r>
            <a:r>
              <a:rPr lang="ru-RU" sz="5400" b="0" i="0" dirty="0">
                <a:solidFill>
                  <a:srgbClr val="1F2328"/>
                </a:solidFill>
                <a:effectLst/>
                <a:latin typeface="Mona Sans VF"/>
              </a:rPr>
              <a:t> — это «всё остальное».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0502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B34F38-1F54-8D38-D677-D880FE31A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B2E198-8F8A-2D86-6DFF-925650902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age</a:t>
            </a:r>
            <a:r>
              <a:rPr lang="ru-RU" dirty="0"/>
              <a:t> = 15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age</a:t>
            </a:r>
            <a:r>
              <a:rPr lang="ru-RU" dirty="0"/>
              <a:t> &gt;= 18: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</a:t>
            </a:r>
            <a:r>
              <a:rPr lang="ru-RU" dirty="0"/>
              <a:t>("Совершеннолетний")</a:t>
            </a:r>
          </a:p>
          <a:p>
            <a:pPr marL="0" indent="0">
              <a:buNone/>
            </a:pPr>
            <a:r>
              <a:rPr lang="ru-RU" dirty="0" err="1"/>
              <a:t>else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</a:t>
            </a:r>
            <a:r>
              <a:rPr lang="ru-RU" dirty="0"/>
              <a:t>("Несовершеннолетний")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3882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3DE06A-BA5B-BB40-8668-BBC383AF7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Проверка чётности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9F8FE2-0851-F9C7-EA24-7A607E8B9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3600" dirty="0"/>
              <a:t>n = 7</a:t>
            </a:r>
          </a:p>
          <a:p>
            <a:pPr marL="0" indent="0">
              <a:buNone/>
            </a:pPr>
            <a:endParaRPr lang="ru-RU" sz="3600" dirty="0"/>
          </a:p>
          <a:p>
            <a:pPr marL="0" indent="0">
              <a:buNone/>
            </a:pPr>
            <a:r>
              <a:rPr lang="ru-RU" sz="3600" dirty="0" err="1"/>
              <a:t>if</a:t>
            </a:r>
            <a:r>
              <a:rPr lang="ru-RU" sz="3600" dirty="0"/>
              <a:t> n % 2 == 0:</a:t>
            </a:r>
          </a:p>
          <a:p>
            <a:pPr marL="0" indent="0">
              <a:buNone/>
            </a:pPr>
            <a:r>
              <a:rPr lang="ru-RU" sz="3600" dirty="0"/>
              <a:t>    </a:t>
            </a:r>
            <a:r>
              <a:rPr lang="ru-RU" sz="3600" dirty="0" err="1"/>
              <a:t>print</a:t>
            </a:r>
            <a:r>
              <a:rPr lang="ru-RU" sz="3600" dirty="0"/>
              <a:t>("Чётное")</a:t>
            </a:r>
          </a:p>
          <a:p>
            <a:pPr marL="0" indent="0">
              <a:buNone/>
            </a:pPr>
            <a:r>
              <a:rPr lang="ru-RU" sz="3600" dirty="0" err="1"/>
              <a:t>else</a:t>
            </a:r>
            <a:r>
              <a:rPr lang="ru-RU" sz="3600" dirty="0"/>
              <a:t>:</a:t>
            </a:r>
          </a:p>
          <a:p>
            <a:pPr marL="0" indent="0">
              <a:buNone/>
            </a:pPr>
            <a:r>
              <a:rPr lang="ru-RU" sz="3600" dirty="0"/>
              <a:t>    </a:t>
            </a:r>
            <a:r>
              <a:rPr lang="ru-RU" sz="3600" dirty="0" err="1"/>
              <a:t>print</a:t>
            </a:r>
            <a:r>
              <a:rPr lang="ru-RU" sz="3600" dirty="0"/>
              <a:t>("Нечётное")</a:t>
            </a:r>
          </a:p>
          <a:p>
            <a:pPr marL="0" indent="0">
              <a:buNone/>
            </a:pPr>
            <a:r>
              <a:rPr lang="ru-RU" sz="3600" b="1" dirty="0"/>
              <a:t>Вывод:</a:t>
            </a:r>
            <a:r>
              <a:rPr lang="ru-RU" sz="3600" dirty="0"/>
              <a:t> Нечётное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8594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BE57E-72A9-AEE8-B26F-E90D492A7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Оператор </a:t>
            </a:r>
            <a:r>
              <a:rPr lang="ru-RU" dirty="0" err="1">
                <a:effectLst/>
              </a:rPr>
              <a:t>if-elif-else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FC62AC-699E-2646-22CD-F73ECA18D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if</a:t>
            </a:r>
            <a:r>
              <a:rPr lang="ru-RU" dirty="0"/>
              <a:t> условие_1:</a:t>
            </a:r>
          </a:p>
          <a:p>
            <a:pPr marL="0" indent="0">
              <a:buNone/>
            </a:pPr>
            <a:r>
              <a:rPr lang="ru-RU" dirty="0"/>
              <a:t>    тело_1</a:t>
            </a:r>
          </a:p>
          <a:p>
            <a:pPr marL="0" indent="0">
              <a:buNone/>
            </a:pPr>
            <a:r>
              <a:rPr lang="ru-RU" dirty="0" err="1"/>
              <a:t>elif</a:t>
            </a:r>
            <a:r>
              <a:rPr lang="ru-RU" dirty="0"/>
              <a:t> условие_2:</a:t>
            </a:r>
          </a:p>
          <a:p>
            <a:pPr marL="0" indent="0">
              <a:buNone/>
            </a:pPr>
            <a:r>
              <a:rPr lang="ru-RU" dirty="0"/>
              <a:t>    тело_2</a:t>
            </a:r>
          </a:p>
          <a:p>
            <a:pPr marL="0" indent="0">
              <a:buNone/>
            </a:pPr>
            <a:r>
              <a:rPr lang="ru-RU" dirty="0" err="1"/>
              <a:t>elif</a:t>
            </a:r>
            <a:r>
              <a:rPr lang="ru-RU" dirty="0"/>
              <a:t> условие_3:</a:t>
            </a:r>
          </a:p>
          <a:p>
            <a:pPr marL="0" indent="0">
              <a:buNone/>
            </a:pPr>
            <a:r>
              <a:rPr lang="ru-RU" dirty="0"/>
              <a:t>    тело_3</a:t>
            </a:r>
          </a:p>
          <a:p>
            <a:pPr marL="0" indent="0">
              <a:buNone/>
            </a:pPr>
            <a:r>
              <a:rPr lang="ru-RU" dirty="0" err="1"/>
              <a:t>else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тело_по_умолчанию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9185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A8A18D-9570-5615-45B2-AA4D57E2B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Как работает: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F8A390-B412-46CA-97C6-E7DC8135E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ru-RU" sz="3600" dirty="0"/>
              <a:t>Проверяется условие_1. Если True — тело_1, </a:t>
            </a:r>
            <a:r>
              <a:rPr lang="ru-RU" sz="3600" b="1" dirty="0"/>
              <a:t>остальные проверки пропускаются</a:t>
            </a:r>
            <a:r>
              <a:rPr lang="ru-RU" sz="3600" dirty="0"/>
              <a:t>.</a:t>
            </a:r>
          </a:p>
          <a:p>
            <a:pPr marL="0" lvl="0" indent="0">
              <a:buNone/>
            </a:pPr>
            <a:r>
              <a:rPr lang="ru-RU" sz="3600" dirty="0"/>
              <a:t>Иначе проверяется условие_2. Если True — тело_2.</a:t>
            </a:r>
          </a:p>
          <a:p>
            <a:pPr marL="0" lvl="0" indent="0">
              <a:buNone/>
            </a:pPr>
            <a:r>
              <a:rPr lang="ru-RU" sz="3600" dirty="0"/>
              <a:t>И так далее.</a:t>
            </a:r>
          </a:p>
          <a:p>
            <a:pPr marL="0" lvl="0" indent="0">
              <a:buNone/>
            </a:pPr>
            <a:r>
              <a:rPr lang="ru-RU" sz="3600" dirty="0"/>
              <a:t>Если </a:t>
            </a:r>
            <a:r>
              <a:rPr lang="ru-RU" sz="3600" b="1" dirty="0"/>
              <a:t>ни одно</a:t>
            </a:r>
            <a:r>
              <a:rPr lang="ru-RU" sz="3600" dirty="0"/>
              <a:t> не сработало — </a:t>
            </a:r>
            <a:r>
              <a:rPr lang="ru-RU" sz="3600" dirty="0" err="1"/>
              <a:t>else</a:t>
            </a:r>
            <a:r>
              <a:rPr lang="ru-RU" sz="3600" dirty="0"/>
              <a:t>.</a:t>
            </a:r>
          </a:p>
          <a:p>
            <a:pPr marL="0" indent="0">
              <a:buNone/>
            </a:pPr>
            <a:r>
              <a:rPr lang="ru-RU" sz="3600" dirty="0"/>
              <a:t>⚠️ </a:t>
            </a:r>
            <a:r>
              <a:rPr lang="ru-RU" sz="3600" b="1" dirty="0" err="1"/>
              <a:t>elif</a:t>
            </a:r>
            <a:r>
              <a:rPr lang="ru-RU" sz="3600" b="1" dirty="0"/>
              <a:t> = </a:t>
            </a:r>
            <a:r>
              <a:rPr lang="ru-RU" sz="3600" b="1" dirty="0" err="1"/>
              <a:t>else</a:t>
            </a:r>
            <a:r>
              <a:rPr lang="ru-RU" sz="3600" b="1" dirty="0"/>
              <a:t> </a:t>
            </a:r>
            <a:r>
              <a:rPr lang="ru-RU" sz="3600" b="1" dirty="0" err="1"/>
              <a:t>if</a:t>
            </a:r>
            <a:r>
              <a:rPr lang="ru-RU" sz="3600" dirty="0"/>
              <a:t> — «иначе если».</a:t>
            </a:r>
          </a:p>
          <a:p>
            <a:pPr marL="0" indent="0">
              <a:buNone/>
            </a:pPr>
            <a:r>
              <a:rPr lang="ru-RU" sz="3600" dirty="0"/>
              <a:t>⚠️ </a:t>
            </a:r>
            <a:r>
              <a:rPr lang="ru-RU" sz="3600" b="1" dirty="0" err="1"/>
              <a:t>else</a:t>
            </a:r>
            <a:r>
              <a:rPr lang="ru-RU" sz="3600" b="1" dirty="0"/>
              <a:t> опционален.</a:t>
            </a:r>
            <a:endParaRPr lang="ru-RU" sz="36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4317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267AE6-0CEA-1200-BDDA-CC402C2EE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BE186F-8058-0A6D-6EC3-95FBB769A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err="1"/>
              <a:t>score</a:t>
            </a:r>
            <a:r>
              <a:rPr lang="ru-RU" dirty="0"/>
              <a:t> = 75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score</a:t>
            </a:r>
            <a:r>
              <a:rPr lang="ru-RU" dirty="0"/>
              <a:t> &gt;= 90: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</a:t>
            </a:r>
            <a:r>
              <a:rPr lang="ru-RU" dirty="0"/>
              <a:t>("Отлично")</a:t>
            </a:r>
          </a:p>
          <a:p>
            <a:pPr marL="0" indent="0">
              <a:buNone/>
            </a:pPr>
            <a:r>
              <a:rPr lang="ru-RU" dirty="0" err="1"/>
              <a:t>elif</a:t>
            </a:r>
            <a:r>
              <a:rPr lang="ru-RU" dirty="0"/>
              <a:t> </a:t>
            </a:r>
            <a:r>
              <a:rPr lang="ru-RU" dirty="0" err="1"/>
              <a:t>score</a:t>
            </a:r>
            <a:r>
              <a:rPr lang="ru-RU" dirty="0"/>
              <a:t> &gt;= 75: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</a:t>
            </a:r>
            <a:r>
              <a:rPr lang="ru-RU" dirty="0"/>
              <a:t>("Хорошо")</a:t>
            </a:r>
          </a:p>
          <a:p>
            <a:pPr marL="0" indent="0">
              <a:buNone/>
            </a:pPr>
            <a:r>
              <a:rPr lang="ru-RU" dirty="0" err="1"/>
              <a:t>elif</a:t>
            </a:r>
            <a:r>
              <a:rPr lang="ru-RU" dirty="0"/>
              <a:t> </a:t>
            </a:r>
            <a:r>
              <a:rPr lang="ru-RU" dirty="0" err="1"/>
              <a:t>score</a:t>
            </a:r>
            <a:r>
              <a:rPr lang="ru-RU" dirty="0"/>
              <a:t> &gt;= 60: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</a:t>
            </a:r>
            <a:r>
              <a:rPr lang="ru-RU" dirty="0"/>
              <a:t>("Удовлетворительно")</a:t>
            </a:r>
          </a:p>
          <a:p>
            <a:pPr marL="0" indent="0">
              <a:buNone/>
            </a:pPr>
            <a:r>
              <a:rPr lang="ru-RU" dirty="0" err="1"/>
              <a:t>else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</a:t>
            </a:r>
            <a:r>
              <a:rPr lang="ru-RU" dirty="0"/>
              <a:t>("Неудовлетворительно")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6963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0F45E9-F0EA-7BAD-3E5F-DCD81793C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Несколько </a:t>
            </a:r>
            <a:r>
              <a:rPr lang="ru-RU" dirty="0" err="1">
                <a:effectLst/>
              </a:rPr>
              <a:t>if</a:t>
            </a:r>
            <a:r>
              <a:rPr lang="ru-RU" dirty="0">
                <a:effectLst/>
              </a:rPr>
              <a:t> </a:t>
            </a:r>
            <a:r>
              <a:rPr lang="ru-RU" dirty="0" err="1">
                <a:effectLst/>
              </a:rPr>
              <a:t>vs</a:t>
            </a:r>
            <a:r>
              <a:rPr lang="ru-RU" dirty="0">
                <a:effectLst/>
              </a:rPr>
              <a:t> </a:t>
            </a:r>
            <a:r>
              <a:rPr lang="ru-RU" dirty="0" err="1">
                <a:effectLst/>
              </a:rPr>
              <a:t>elif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2706F9-F52D-0FA2-ED4E-516D5D282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Несколько </a:t>
            </a:r>
            <a:r>
              <a:rPr lang="ru-RU" b="1" dirty="0" err="1"/>
              <a:t>if</a:t>
            </a:r>
            <a:r>
              <a:rPr lang="ru-RU" b="1" dirty="0"/>
              <a:t> — проверяются все</a:t>
            </a:r>
          </a:p>
          <a:p>
            <a:pPr marL="0" indent="0">
              <a:buNone/>
            </a:pPr>
            <a:r>
              <a:rPr lang="ru-RU" dirty="0"/>
              <a:t>x = 10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if</a:t>
            </a:r>
            <a:r>
              <a:rPr lang="ru-RU" dirty="0"/>
              <a:t> x &gt; 5: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</a:t>
            </a:r>
            <a:r>
              <a:rPr lang="ru-RU" dirty="0"/>
              <a:t>("Больше 5")</a:t>
            </a:r>
          </a:p>
          <a:p>
            <a:pPr marL="0" indent="0">
              <a:buNone/>
            </a:pPr>
            <a:r>
              <a:rPr lang="ru-RU" dirty="0" err="1"/>
              <a:t>if</a:t>
            </a:r>
            <a:r>
              <a:rPr lang="ru-RU" dirty="0"/>
              <a:t> x &gt; 8: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</a:t>
            </a:r>
            <a:r>
              <a:rPr lang="ru-RU" dirty="0"/>
              <a:t>("Больше 8")</a:t>
            </a:r>
          </a:p>
          <a:p>
            <a:pPr marL="0" indent="0">
              <a:buNone/>
            </a:pPr>
            <a:r>
              <a:rPr lang="ru-RU" dirty="0" err="1"/>
              <a:t>if</a:t>
            </a:r>
            <a:r>
              <a:rPr lang="ru-RU" dirty="0"/>
              <a:t> x &gt; 15: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</a:t>
            </a:r>
            <a:r>
              <a:rPr lang="ru-RU" dirty="0"/>
              <a:t>("Больше 15")</a:t>
            </a:r>
          </a:p>
          <a:p>
            <a:pPr marL="0" indent="0">
              <a:buNone/>
            </a:pPr>
            <a:r>
              <a:rPr lang="ru-RU" b="1" dirty="0"/>
              <a:t>Вывод: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Больше 5</a:t>
            </a:r>
          </a:p>
          <a:p>
            <a:pPr marL="0" indent="0">
              <a:buNone/>
            </a:pPr>
            <a:r>
              <a:rPr lang="ru-RU" dirty="0"/>
              <a:t>Больше 8</a:t>
            </a:r>
          </a:p>
          <a:p>
            <a:pPr marL="0" indent="0">
              <a:buNone/>
            </a:pPr>
            <a:r>
              <a:rPr lang="ru-RU" b="1" dirty="0"/>
              <a:t>Все подходящие условия выполняются.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1621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7EC970-2CE9-597C-E1F3-75ACBA7B0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>
                <a:effectLst/>
              </a:rPr>
              <a:t>elif</a:t>
            </a:r>
            <a:r>
              <a:rPr lang="ru-RU" dirty="0">
                <a:effectLst/>
              </a:rPr>
              <a:t> — проверяется до первого совпадения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914CAA-2D0A-B233-7FFD-C8BF9B1FB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x = 10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x &gt; 5:</a:t>
            </a:r>
          </a:p>
          <a:p>
            <a:pPr marL="0" indent="0">
              <a:buNone/>
            </a:pPr>
            <a:r>
              <a:rPr lang="en-US" dirty="0"/>
              <a:t>    print("</a:t>
            </a:r>
            <a:r>
              <a:rPr lang="ru-RU" dirty="0"/>
              <a:t>Больше 5")</a:t>
            </a:r>
          </a:p>
          <a:p>
            <a:pPr marL="0" indent="0">
              <a:buNone/>
            </a:pPr>
            <a:r>
              <a:rPr lang="en-US" dirty="0" err="1"/>
              <a:t>elif</a:t>
            </a:r>
            <a:r>
              <a:rPr lang="en-US" dirty="0"/>
              <a:t> x &gt; 8:</a:t>
            </a:r>
          </a:p>
          <a:p>
            <a:pPr marL="0" indent="0">
              <a:buNone/>
            </a:pPr>
            <a:r>
              <a:rPr lang="en-US" dirty="0"/>
              <a:t>    print("</a:t>
            </a:r>
            <a:r>
              <a:rPr lang="ru-RU" dirty="0"/>
              <a:t>Больше 8")</a:t>
            </a:r>
          </a:p>
          <a:p>
            <a:pPr marL="0" indent="0">
              <a:buNone/>
            </a:pPr>
            <a:r>
              <a:rPr lang="en-US" dirty="0" err="1"/>
              <a:t>elif</a:t>
            </a:r>
            <a:r>
              <a:rPr lang="en-US" dirty="0"/>
              <a:t> x &gt; 15:</a:t>
            </a:r>
          </a:p>
          <a:p>
            <a:pPr marL="0" indent="0">
              <a:buNone/>
            </a:pPr>
            <a:r>
              <a:rPr lang="en-US" dirty="0"/>
              <a:t>    print("</a:t>
            </a:r>
            <a:r>
              <a:rPr lang="ru-RU" dirty="0"/>
              <a:t>Больше 15")</a:t>
            </a:r>
          </a:p>
        </p:txBody>
      </p:sp>
    </p:spTree>
    <p:extLst>
      <p:ext uri="{BB962C8B-B14F-4D97-AF65-F5344CB8AC3E}">
        <p14:creationId xmlns:p14="http://schemas.microsoft.com/office/powerpoint/2010/main" val="1217253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7781F8-994A-1394-4D66-70CD775A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EC78B08-AA9C-2077-D4F6-2D5511F9C2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8321074"/>
              </p:ext>
            </p:extLst>
          </p:nvPr>
        </p:nvGraphicFramePr>
        <p:xfrm>
          <a:off x="609600" y="274638"/>
          <a:ext cx="10972800" cy="55165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367097292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552740598"/>
                    </a:ext>
                  </a:extLst>
                </a:gridCol>
              </a:tblGrid>
              <a:tr h="1838854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3200">
                          <a:effectLst/>
                        </a:rPr>
                        <a:t>Ситуация</a:t>
                      </a:r>
                      <a:endParaRPr lang="ru-RU" sz="3200" b="1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3200">
                          <a:effectLst/>
                        </a:rPr>
                        <a:t>Что использовать</a:t>
                      </a:r>
                      <a:endParaRPr lang="ru-RU" sz="3200" b="1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3441170"/>
                  </a:ext>
                </a:extLst>
              </a:tr>
              <a:tr h="1838854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3200">
                          <a:effectLst/>
                        </a:rPr>
                        <a:t>Взаимоисключающие варианты</a:t>
                      </a:r>
                      <a:endParaRPr lang="ru-RU" sz="3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3200">
                          <a:effectLst/>
                        </a:rPr>
                        <a:t>if-elif-else</a:t>
                      </a:r>
                      <a:endParaRPr lang="ru-RU" sz="3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416345025"/>
                  </a:ext>
                </a:extLst>
              </a:tr>
              <a:tr h="1838854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3200" dirty="0">
                          <a:effectLst/>
                        </a:rPr>
                        <a:t>Независимые проверки</a:t>
                      </a:r>
                      <a:endParaRPr lang="ru-RU" sz="3200" b="0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ru-RU" sz="3200" dirty="0">
                          <a:effectLst/>
                        </a:rPr>
                        <a:t>Несколько </a:t>
                      </a:r>
                      <a:r>
                        <a:rPr lang="ru-RU" sz="3200" dirty="0" err="1">
                          <a:effectLst/>
                        </a:rPr>
                        <a:t>if</a:t>
                      </a:r>
                      <a:endParaRPr lang="ru-RU" sz="3200" b="0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656571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8520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D10B3A-3C7C-BB2C-BA7E-16E22245E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Вложенные условия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97831C-3847-1A8F-6948-445173E79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3200" b="1" dirty="0"/>
              <a:t>Синтаксис</a:t>
            </a:r>
          </a:p>
          <a:p>
            <a:pPr marL="0" indent="0">
              <a:buNone/>
            </a:pPr>
            <a:r>
              <a:rPr lang="ru-RU" sz="3200" dirty="0" err="1"/>
              <a:t>if</a:t>
            </a:r>
            <a:r>
              <a:rPr lang="ru-RU" sz="3200" dirty="0"/>
              <a:t> условие_1:</a:t>
            </a:r>
          </a:p>
          <a:p>
            <a:pPr marL="0" indent="0">
              <a:buNone/>
            </a:pPr>
            <a:r>
              <a:rPr lang="ru-RU" sz="3200" dirty="0"/>
              <a:t>    </a:t>
            </a:r>
            <a:r>
              <a:rPr lang="ru-RU" sz="3200" dirty="0" err="1"/>
              <a:t>if</a:t>
            </a:r>
            <a:r>
              <a:rPr lang="ru-RU" sz="3200" dirty="0"/>
              <a:t> условие_2:</a:t>
            </a:r>
          </a:p>
          <a:p>
            <a:pPr marL="0" indent="0">
              <a:buNone/>
            </a:pPr>
            <a:r>
              <a:rPr lang="ru-RU" sz="3200" dirty="0"/>
              <a:t>        тело_1_2</a:t>
            </a:r>
          </a:p>
          <a:p>
            <a:pPr marL="0" indent="0">
              <a:buNone/>
            </a:pPr>
            <a:r>
              <a:rPr lang="ru-RU" sz="3200" dirty="0"/>
              <a:t>    </a:t>
            </a:r>
            <a:r>
              <a:rPr lang="ru-RU" sz="3200" dirty="0" err="1"/>
              <a:t>else</a:t>
            </a:r>
            <a:r>
              <a:rPr lang="ru-RU" sz="3200" dirty="0"/>
              <a:t>:</a:t>
            </a:r>
          </a:p>
          <a:p>
            <a:pPr marL="0" indent="0">
              <a:buNone/>
            </a:pPr>
            <a:r>
              <a:rPr lang="ru-RU" sz="3200" dirty="0"/>
              <a:t>        тело_1_не_2</a:t>
            </a:r>
          </a:p>
          <a:p>
            <a:pPr marL="0" indent="0">
              <a:buNone/>
            </a:pPr>
            <a:r>
              <a:rPr lang="ru-RU" sz="3200" dirty="0" err="1"/>
              <a:t>else</a:t>
            </a:r>
            <a:r>
              <a:rPr lang="ru-RU" sz="3200" dirty="0"/>
              <a:t>:</a:t>
            </a:r>
          </a:p>
          <a:p>
            <a:pPr marL="0" indent="0">
              <a:buNone/>
            </a:pPr>
            <a:r>
              <a:rPr lang="ru-RU" sz="3200" dirty="0"/>
              <a:t>    тело_не_1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1514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5880A-9FDE-716D-12EA-0E602B03B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CB8EAE-4BF1-065D-F9BB-E7262CC74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err="1"/>
              <a:t>age</a:t>
            </a:r>
            <a:r>
              <a:rPr lang="ru-RU" dirty="0"/>
              <a:t> = 25</a:t>
            </a:r>
          </a:p>
          <a:p>
            <a:pPr marL="0" indent="0">
              <a:buNone/>
            </a:pPr>
            <a:r>
              <a:rPr lang="ru-RU" dirty="0" err="1"/>
              <a:t>has_passport</a:t>
            </a:r>
            <a:r>
              <a:rPr lang="ru-RU" dirty="0"/>
              <a:t> = True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age</a:t>
            </a:r>
            <a:r>
              <a:rPr lang="ru-RU" dirty="0"/>
              <a:t> &gt;= 18: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has_passport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        </a:t>
            </a:r>
            <a:r>
              <a:rPr lang="ru-RU" dirty="0" err="1"/>
              <a:t>print</a:t>
            </a:r>
            <a:r>
              <a:rPr lang="ru-RU" dirty="0"/>
              <a:t>("Можно войти")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else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        </a:t>
            </a:r>
            <a:r>
              <a:rPr lang="ru-RU" dirty="0" err="1"/>
              <a:t>print</a:t>
            </a:r>
            <a:r>
              <a:rPr lang="ru-RU" dirty="0"/>
              <a:t>("Нужен паспорт")</a:t>
            </a:r>
          </a:p>
          <a:p>
            <a:pPr marL="0" indent="0">
              <a:buNone/>
            </a:pPr>
            <a:r>
              <a:rPr lang="ru-RU" dirty="0" err="1"/>
              <a:t>else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print</a:t>
            </a:r>
            <a:r>
              <a:rPr lang="ru-RU" dirty="0"/>
              <a:t>("Слишком молод")</a:t>
            </a:r>
          </a:p>
          <a:p>
            <a:pPr marL="0" indent="0">
              <a:buNone/>
            </a:pPr>
            <a:r>
              <a:rPr lang="ru-RU" b="1" dirty="0"/>
              <a:t>Вывод:</a:t>
            </a:r>
            <a:r>
              <a:rPr lang="ru-RU" dirty="0"/>
              <a:t> Можно войти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9075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6E1374-5263-9D3E-BF25-02A697E5A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40FE2D-EEB2-BAFB-DE98-785254D1E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810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ED7ADE-8885-FBEA-86D6-2CD9CD400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33130A-96DF-DD63-E54F-BF7B47274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334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301CD7-E8BC-8215-8EB0-7EE464AE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0BA86A-A2CF-9B5B-3E3C-F5052BCA7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765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C41D1F-9E73-BF7A-BEEB-66DF99B23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08730B-5EB0-F002-75D4-75893E06A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29283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FFEAE-3CEC-1DF2-66C5-554FDB3ED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2219DA-6C84-27E0-AA4D-78F2C6529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41210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C16307-A463-5B52-EF2E-7EC419912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EAC53E-FC53-5EA2-3729-2BB0AC0EB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3544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A29926-9518-1BF4-5A57-1FF2D993E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CFAD1E-58B8-B096-25A0-BAEBA16C3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55212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32425E-50D6-4204-94FF-139A086C5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4F99EA-27C8-AEB5-8B2B-FDE7B1793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0654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858713-3743-F8E0-CB19-2B78934AE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8736CC-686B-B98F-0928-C8DAA8C37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9356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31827-7AFC-FB41-BC66-08060AB08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EE0D7E-36BF-FFA0-1FDB-1C1FCE35A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63412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FFA123-1D63-7B5B-87AB-4136E91F7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8938F8-BDE4-9F47-C918-14513481E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539160"/>
      </p:ext>
    </p:extLst>
  </p:cSld>
  <p:clrMapOvr>
    <a:masterClrMapping/>
  </p:clrMapOvr>
</p:sld>
</file>

<file path=ppt/theme/theme1.xml><?xml version="1.0" encoding="utf-8"?>
<a:theme xmlns:a="http://schemas.openxmlformats.org/drawingml/2006/main" name="La ment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766</Words>
  <Application>Microsoft Office PowerPoint</Application>
  <PresentationFormat>Широкоэкранный</PresentationFormat>
  <Paragraphs>160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6" baseType="lpstr">
      <vt:lpstr>Arial</vt:lpstr>
      <vt:lpstr>Calibri</vt:lpstr>
      <vt:lpstr>Mona Sans VF</vt:lpstr>
      <vt:lpstr>Monaspace Neon</vt:lpstr>
      <vt:lpstr>La mente</vt:lpstr>
      <vt:lpstr> </vt:lpstr>
      <vt:lpstr>Цель </vt:lpstr>
      <vt:lpstr>Задачи </vt:lpstr>
      <vt:lpstr> Что такое условный оператор</vt:lpstr>
      <vt:lpstr>Оператор if</vt:lpstr>
      <vt:lpstr>Как работает: </vt:lpstr>
      <vt:lpstr>Пример </vt:lpstr>
      <vt:lpstr>Что может быть условием</vt:lpstr>
      <vt:lpstr>Оператор if-else</vt:lpstr>
      <vt:lpstr>Как работает:</vt:lpstr>
      <vt:lpstr>Пример</vt:lpstr>
      <vt:lpstr>Проверка чётности</vt:lpstr>
      <vt:lpstr>Оператор if-elif-else</vt:lpstr>
      <vt:lpstr>Как работает: </vt:lpstr>
      <vt:lpstr>Пример</vt:lpstr>
      <vt:lpstr>Несколько if vs elif</vt:lpstr>
      <vt:lpstr>elif — проверяется до первого совпадения</vt:lpstr>
      <vt:lpstr>Презентация PowerPoint</vt:lpstr>
      <vt:lpstr>Вложенные условия</vt:lpstr>
      <vt:lpstr>Пример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Елена Журавлёва</dc:creator>
  <cp:lastModifiedBy>Елена Журавлёва</cp:lastModifiedBy>
  <cp:revision>8</cp:revision>
  <dcterms:created xsi:type="dcterms:W3CDTF">2026-09-03T16:56:30Z</dcterms:created>
  <dcterms:modified xsi:type="dcterms:W3CDTF">2026-09-24T18:09:32Z</dcterms:modified>
</cp:coreProperties>
</file>